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822959" y="128016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900"/>
              </a:lnSpc>
              <a:spcAft>
                <a:spcPts val="0"/>
              </a:spcAft>
            </a:pPr>
            <a:r>
              <a:rPr sz="6600" b="0">
                <a:solidFill>
                  <a:srgbClr val="93C5FD"/>
                </a:solidFill>
                <a:latin typeface="Segoe UI Semibold"/>
              </a:rPr>
              <a:t>Agent Skills</a:t>
            </a:r>
          </a:p>
        </p:txBody>
      </p:sp>
      <p:sp>
        <p:nvSpPr>
          <p:cNvPr id="4" name="text3"/>
          <p:cNvSpPr txBox="1"/>
          <p:nvPr/>
        </p:nvSpPr>
        <p:spPr>
          <a:xfrm>
            <a:off x="822959" y="278892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Segoe UI"/>
              </a:rPr>
              <a:t>Teaching AI Agents</a:t>
            </a:r>
          </a:p>
          <a:p>
            <a:pPr algn="l">
              <a:lnSpc>
                <a:spcPts val="3800"/>
              </a:lnSpc>
              <a:spcAft>
                <a:spcPts val="0"/>
              </a:spcAft>
            </a:pPr>
            <a:r>
              <a:rPr sz="3200" b="0">
                <a:solidFill>
                  <a:srgbClr val="FFFFFF"/>
                </a:solidFill>
                <a:latin typeface="Segoe UI"/>
              </a:rPr>
              <a:t>How to Work</a:t>
            </a:r>
          </a:p>
        </p:txBody>
      </p:sp>
      <p:sp>
        <p:nvSpPr>
          <p:cNvPr id="5" name="box4"/>
          <p:cNvSpPr/>
          <p:nvPr/>
        </p:nvSpPr>
        <p:spPr>
          <a:xfrm>
            <a:off x="822959" y="4251960"/>
            <a:ext cx="82296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x5"/>
          <p:cNvSpPr/>
          <p:nvPr/>
        </p:nvSpPr>
        <p:spPr>
          <a:xfrm>
            <a:off x="1874519" y="4251960"/>
            <a:ext cx="4114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6"/>
          <p:cNvSpPr txBox="1"/>
          <p:nvPr/>
        </p:nvSpPr>
        <p:spPr>
          <a:xfrm>
            <a:off x="822959" y="457200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800"/>
              </a:spcAft>
            </a:pPr>
            <a:r>
              <a:rPr sz="1300" b="0">
                <a:solidFill>
                  <a:srgbClr val="FDBA74"/>
                </a:solidFill>
                <a:latin typeface="Segoe UI Semibold"/>
              </a:rPr>
              <a:t>PRESENTED BY</a:t>
            </a:r>
          </a:p>
          <a:p>
            <a:pPr algn="l">
              <a:lnSpc>
                <a:spcPts val="29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Segoe UI Semibold"/>
              </a:rPr>
              <a:t>Thaarani T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AGENDA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6" descr="agenda_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4489323" cy="4100340"/>
          </a:xfrm>
          <a:prstGeom prst="rect">
            <a:avLst/>
          </a:prstGeom>
        </p:spPr>
      </p:pic>
      <p:sp>
        <p:nvSpPr>
          <p:cNvPr id="8" name="box7"/>
          <p:cNvSpPr/>
          <p:nvPr/>
        </p:nvSpPr>
        <p:spPr>
          <a:xfrm>
            <a:off x="5266562" y="17373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x7/text8"/>
          <p:cNvSpPr txBox="1"/>
          <p:nvPr/>
        </p:nvSpPr>
        <p:spPr>
          <a:xfrm>
            <a:off x="5403723" y="1874519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0" name="text9"/>
          <p:cNvSpPr txBox="1"/>
          <p:nvPr/>
        </p:nvSpPr>
        <p:spPr>
          <a:xfrm>
            <a:off x="6135242" y="1737360"/>
            <a:ext cx="550781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What is an agent skill?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A folder that teaches an agent one procedure.</a:t>
            </a:r>
          </a:p>
        </p:txBody>
      </p:sp>
      <p:sp>
        <p:nvSpPr>
          <p:cNvPr id="11" name="box10"/>
          <p:cNvSpPr/>
          <p:nvPr/>
        </p:nvSpPr>
        <p:spPr>
          <a:xfrm>
            <a:off x="5266562" y="260603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10/text11"/>
          <p:cNvSpPr txBox="1"/>
          <p:nvPr/>
        </p:nvSpPr>
        <p:spPr>
          <a:xfrm>
            <a:off x="5403723" y="2743199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12"/>
          <p:cNvSpPr txBox="1"/>
          <p:nvPr/>
        </p:nvSpPr>
        <p:spPr>
          <a:xfrm>
            <a:off x="6135242" y="2606039"/>
            <a:ext cx="550781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Why use skills?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Consistent results, a smaller context, reuse across teams.</a:t>
            </a:r>
          </a:p>
        </p:txBody>
      </p:sp>
      <p:sp>
        <p:nvSpPr>
          <p:cNvPr id="14" name="box13"/>
          <p:cNvSpPr/>
          <p:nvPr/>
        </p:nvSpPr>
        <p:spPr>
          <a:xfrm>
            <a:off x="5266562" y="34747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x13/text14"/>
          <p:cNvSpPr txBox="1"/>
          <p:nvPr/>
        </p:nvSpPr>
        <p:spPr>
          <a:xfrm>
            <a:off x="5403723" y="3611879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15"/>
          <p:cNvSpPr txBox="1"/>
          <p:nvPr/>
        </p:nvSpPr>
        <p:spPr>
          <a:xfrm>
            <a:off x="6135242" y="3474720"/>
            <a:ext cx="550781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How do I write one?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Folder, steps, description, then test.</a:t>
            </a:r>
          </a:p>
        </p:txBody>
      </p:sp>
      <p:sp>
        <p:nvSpPr>
          <p:cNvPr id="17" name="box16"/>
          <p:cNvSpPr/>
          <p:nvPr/>
        </p:nvSpPr>
        <p:spPr>
          <a:xfrm>
            <a:off x="5266562" y="43434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x16/text17"/>
          <p:cNvSpPr txBox="1"/>
          <p:nvPr/>
        </p:nvSpPr>
        <p:spPr>
          <a:xfrm>
            <a:off x="5403723" y="4480560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18"/>
          <p:cNvSpPr txBox="1"/>
          <p:nvPr/>
        </p:nvSpPr>
        <p:spPr>
          <a:xfrm>
            <a:off x="6135242" y="4343400"/>
            <a:ext cx="550781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How do I use existing skills?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Find, install, invoke, adapt.</a:t>
            </a:r>
          </a:p>
        </p:txBody>
      </p:sp>
      <p:sp>
        <p:nvSpPr>
          <p:cNvPr id="20" name="box19"/>
          <p:cNvSpPr/>
          <p:nvPr/>
        </p:nvSpPr>
        <p:spPr>
          <a:xfrm>
            <a:off x="5266562" y="5212079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x19/text20"/>
          <p:cNvSpPr txBox="1"/>
          <p:nvPr/>
        </p:nvSpPr>
        <p:spPr>
          <a:xfrm>
            <a:off x="5403723" y="5349240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05</a:t>
            </a:r>
          </a:p>
        </p:txBody>
      </p:sp>
      <p:sp>
        <p:nvSpPr>
          <p:cNvPr id="22" name="text21"/>
          <p:cNvSpPr txBox="1"/>
          <p:nvPr/>
        </p:nvSpPr>
        <p:spPr>
          <a:xfrm>
            <a:off x="6135242" y="5212079"/>
            <a:ext cx="550781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How do skills work with MCP?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Skills decide how; MCP supplies what.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What Is an Agent Skill?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01 · WHAT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4489323" cy="4114800"/>
          </a:xfrm>
          <a:prstGeom prst="roundRect">
            <a:avLst>
              <a:gd name="adj" fmla="val 6000"/>
            </a:avLst>
          </a:prstGeom>
          <a:solidFill>
            <a:srgbClr val="17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text7"/>
          <p:cNvSpPr txBox="1"/>
          <p:nvPr/>
        </p:nvSpPr>
        <p:spPr>
          <a:xfrm>
            <a:off x="868680" y="2057400"/>
            <a:ext cx="3849243" cy="3474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93C5FD"/>
                </a:solidFill>
                <a:latin typeface="Consolas"/>
              </a:rPr>
              <a:t>release-notes/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├── </a:t>
            </a:r>
            <a:r>
              <a:rPr sz="1400" b="0">
                <a:solidFill>
                  <a:srgbClr val="93C5FD"/>
                </a:solidFill>
                <a:latin typeface="Consolas"/>
              </a:rPr>
              <a:t>SKILL.md</a:t>
            </a:r>
            <a:r>
              <a:rPr sz="1400" b="0">
                <a:solidFill>
                  <a:srgbClr val="94A3B8"/>
                </a:solidFill>
                <a:latin typeface="Consolas"/>
              </a:rPr>
              <a:t>          required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scripts/          </a:t>
            </a:r>
            <a:r>
              <a:rPr sz="1400" b="0">
                <a:solidFill>
                  <a:srgbClr val="94A3B8"/>
                </a:solidFill>
                <a:latin typeface="Consolas"/>
              </a:rPr>
              <a:t>optional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└── fetch_prs.sh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references/       </a:t>
            </a:r>
            <a:r>
              <a:rPr sz="1400" b="0">
                <a:solidFill>
                  <a:srgbClr val="94A3B8"/>
                </a:solidFill>
                <a:latin typeface="Consolas"/>
              </a:rPr>
              <a:t>optional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└── EDGE-CASES.md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└── assets/           </a:t>
            </a:r>
            <a:r>
              <a:rPr sz="1400" b="0">
                <a:solidFill>
                  <a:srgbClr val="94A3B8"/>
                </a:solidFill>
                <a:latin typeface="Consolas"/>
              </a:rPr>
              <a:t>optional</a:t>
            </a:r>
          </a:p>
          <a:p>
            <a:pPr algn="l">
              <a:lnSpc>
                <a:spcPts val="1700"/>
              </a:lnSpc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  └── template.md</a:t>
            </a:r>
          </a:p>
        </p:txBody>
      </p:sp>
      <p:sp>
        <p:nvSpPr>
          <p:cNvPr id="9" name="text8"/>
          <p:cNvSpPr txBox="1"/>
          <p:nvPr/>
        </p:nvSpPr>
        <p:spPr>
          <a:xfrm>
            <a:off x="5266562" y="1737360"/>
            <a:ext cx="6376492" cy="411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Aft>
                <a:spcPts val="1600"/>
              </a:spcAft>
            </a:pPr>
            <a:r>
              <a:rPr sz="2800" b="0">
                <a:solidFill>
                  <a:srgbClr val="FFFFFF"/>
                </a:solidFill>
                <a:latin typeface="Segoe UI Semibold"/>
              </a:rPr>
              <a:t>A reusable playbook for one task</a:t>
            </a:r>
          </a:p>
          <a:p>
            <a:pPr algn="l" marL="320040" indent="-320040">
              <a:lnSpc>
                <a:spcPts val="22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A folder that teaches the agent one recurring procedure.</a:t>
            </a:r>
          </a:p>
          <a:p>
            <a:pPr algn="l" marL="320040" indent="-320040">
              <a:lnSpc>
                <a:spcPts val="22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SKILL.md is the only required file.</a:t>
            </a:r>
          </a:p>
          <a:p>
            <a:pPr algn="l" marL="320040" indent="-320040">
              <a:lnSpc>
                <a:spcPts val="22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Frontmatter name + description tell the agent when.</a:t>
            </a:r>
          </a:p>
          <a:p>
            <a:pPr algn="l" marL="320040" indent="-320040">
              <a:lnSpc>
                <a:spcPts val="22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Markdown body tells the agent how, step by step.</a:t>
            </a:r>
          </a:p>
          <a:p>
            <a:pPr algn="l" marL="320040" indent="-320040">
              <a:lnSpc>
                <a:spcPts val="2200"/>
              </a:lnSpc>
              <a:spcAft>
                <a:spcPts val="12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Scripts and references load only when a step 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Inside SKILL.md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01 · WHAT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7320076" cy="4114800"/>
          </a:xfrm>
          <a:prstGeom prst="roundRect">
            <a:avLst>
              <a:gd name="adj" fmla="val 6000"/>
            </a:avLst>
          </a:prstGeom>
          <a:solidFill>
            <a:srgbClr val="17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text7"/>
          <p:cNvSpPr txBox="1"/>
          <p:nvPr/>
        </p:nvSpPr>
        <p:spPr>
          <a:xfrm>
            <a:off x="868680" y="2057400"/>
            <a:ext cx="6679996" cy="3474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7DD3FC"/>
                </a:solidFill>
                <a:latin typeface="Consolas"/>
              </a:rPr>
              <a:t>name: </a:t>
            </a:r>
            <a:r>
              <a:rPr sz="1400" b="0">
                <a:solidFill>
                  <a:srgbClr val="E2E8F0"/>
                </a:solidFill>
                <a:latin typeface="Consolas"/>
              </a:rPr>
              <a:t>writing-release-notes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7DD3FC"/>
                </a:solidFill>
                <a:latin typeface="Consolas"/>
              </a:rPr>
              <a:t>description: </a:t>
            </a:r>
            <a:r>
              <a:rPr sz="1400" b="0">
                <a:solidFill>
                  <a:srgbClr val="E2E8F0"/>
                </a:solidFill>
                <a:latin typeface="Consolas"/>
              </a:rPr>
              <a:t>Converts merged PRs into user-facing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release notes. Use when the user asks for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release notes, a changelog, or what shipped.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---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# Writing Release Notes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## Steps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1. Identify the previous tag. If unknown, ask.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2. Collect merged PRs since that tag.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3. Sort into Breaking / Features / Fixes.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## Before returning, verify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- [ ] No internal items leaked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- [ ] Breaking changes have migration notes</a:t>
            </a:r>
          </a:p>
        </p:txBody>
      </p:sp>
      <p:sp>
        <p:nvSpPr>
          <p:cNvPr id="9" name="box8"/>
          <p:cNvSpPr/>
          <p:nvPr/>
        </p:nvSpPr>
        <p:spPr>
          <a:xfrm>
            <a:off x="8097316" y="17373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x8/text9"/>
          <p:cNvSpPr txBox="1"/>
          <p:nvPr/>
        </p:nvSpPr>
        <p:spPr>
          <a:xfrm>
            <a:off x="8234476" y="1874519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Frontmatter → when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name + description stay resident and decide whether to load.</a:t>
            </a:r>
          </a:p>
        </p:txBody>
      </p:sp>
      <p:sp>
        <p:nvSpPr>
          <p:cNvPr id="11" name="box10"/>
          <p:cNvSpPr/>
          <p:nvPr/>
        </p:nvSpPr>
        <p:spPr>
          <a:xfrm>
            <a:off x="8097316" y="31851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10/text11"/>
          <p:cNvSpPr txBox="1"/>
          <p:nvPr/>
        </p:nvSpPr>
        <p:spPr>
          <a:xfrm>
            <a:off x="8234476" y="3322320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Steps → how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Numbered, verb-first actions. Loaded only when triggered.</a:t>
            </a:r>
          </a:p>
        </p:txBody>
      </p:sp>
      <p:sp>
        <p:nvSpPr>
          <p:cNvPr id="13" name="box12"/>
          <p:cNvSpPr/>
          <p:nvPr/>
        </p:nvSpPr>
        <p:spPr>
          <a:xfrm>
            <a:off x="8097316" y="46329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x12/text13"/>
          <p:cNvSpPr txBox="1"/>
          <p:nvPr/>
        </p:nvSpPr>
        <p:spPr>
          <a:xfrm>
            <a:off x="8234476" y="4770120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Checklist → quality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The agent audits its own draft before returning.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Why Skills? Prompts Alone Drift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02 · WHY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text7"/>
          <p:cNvSpPr txBox="1"/>
          <p:nvPr/>
        </p:nvSpPr>
        <p:spPr>
          <a:xfrm>
            <a:off x="685800" y="1874519"/>
            <a:ext cx="10820095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5B6B80"/>
                </a:solidFill>
                <a:latin typeface="Segoe UI"/>
              </a:rPr>
              <a:t>Same prompt, run three times:   </a:t>
            </a:r>
            <a:r>
              <a:rPr sz="1800" b="1">
                <a:solidFill>
                  <a:srgbClr val="0F1E3D"/>
                </a:solidFill>
                <a:latin typeface="Consolas"/>
              </a:rPr>
              <a:t>“Write release notes for v2.1”</a:t>
            </a:r>
          </a:p>
        </p:txBody>
      </p:sp>
      <p:sp>
        <p:nvSpPr>
          <p:cNvPr id="9" name="box8"/>
          <p:cNvSpPr/>
          <p:nvPr/>
        </p:nvSpPr>
        <p:spPr>
          <a:xfrm>
            <a:off x="548640" y="2606039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box8/img9" descr="badge_cancel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39"/>
            <a:ext cx="457200" cy="457200"/>
          </a:xfrm>
          <a:prstGeom prst="rect">
            <a:avLst/>
          </a:prstGeom>
        </p:spPr>
      </p:pic>
      <p:sp>
        <p:nvSpPr>
          <p:cNvPr id="11" name="box8/text10"/>
          <p:cNvSpPr txBox="1"/>
          <p:nvPr/>
        </p:nvSpPr>
        <p:spPr>
          <a:xfrm>
            <a:off x="1463040" y="2834639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0F1E3D"/>
                </a:solidFill>
                <a:latin typeface="Segoe UI Semibold"/>
              </a:rPr>
              <a:t>Run 1</a:t>
            </a:r>
          </a:p>
        </p:txBody>
      </p:sp>
      <p:sp>
        <p:nvSpPr>
          <p:cNvPr id="12" name="box8/text11"/>
          <p:cNvSpPr txBox="1"/>
          <p:nvPr/>
        </p:nvSpPr>
        <p:spPr>
          <a:xfrm>
            <a:off x="777240" y="3520439"/>
            <a:ext cx="308853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## v2.1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- fix: null deref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- feat: export API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DC2626"/>
                </a:solidFill>
                <a:latin typeface="Segoe UI Semibold"/>
              </a:rPr>
              <a:t>Raw commit titles</a:t>
            </a:r>
          </a:p>
        </p:txBody>
      </p:sp>
      <p:sp>
        <p:nvSpPr>
          <p:cNvPr id="13" name="box12"/>
          <p:cNvSpPr/>
          <p:nvPr/>
        </p:nvSpPr>
        <p:spPr>
          <a:xfrm>
            <a:off x="4322978" y="2606039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box12/img13" descr="badge_cancel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834639"/>
            <a:ext cx="457200" cy="457200"/>
          </a:xfrm>
          <a:prstGeom prst="rect">
            <a:avLst/>
          </a:prstGeom>
        </p:spPr>
      </p:pic>
      <p:sp>
        <p:nvSpPr>
          <p:cNvPr id="15" name="box12/text14"/>
          <p:cNvSpPr txBox="1"/>
          <p:nvPr/>
        </p:nvSpPr>
        <p:spPr>
          <a:xfrm>
            <a:off x="5237378" y="2834639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0F1E3D"/>
                </a:solidFill>
                <a:latin typeface="Segoe UI Semibold"/>
              </a:rPr>
              <a:t>Run 2</a:t>
            </a:r>
          </a:p>
        </p:txBody>
      </p:sp>
      <p:sp>
        <p:nvSpPr>
          <p:cNvPr id="16" name="box12/text15"/>
          <p:cNvSpPr txBox="1"/>
          <p:nvPr/>
        </p:nvSpPr>
        <p:spPr>
          <a:xfrm>
            <a:off x="4551578" y="3520439"/>
            <a:ext cx="308853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v2.1 brings exciting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improvements across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the board!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DC2626"/>
                </a:solidFill>
                <a:latin typeface="Segoe UI Semibold"/>
              </a:rPr>
              <a:t>Fluent, but no facts</a:t>
            </a:r>
          </a:p>
        </p:txBody>
      </p:sp>
      <p:sp>
        <p:nvSpPr>
          <p:cNvPr id="17" name="box16"/>
          <p:cNvSpPr/>
          <p:nvPr/>
        </p:nvSpPr>
        <p:spPr>
          <a:xfrm>
            <a:off x="8097316" y="2606039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box16/img17" descr="badge_cancel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16" y="2834639"/>
            <a:ext cx="457200" cy="457200"/>
          </a:xfrm>
          <a:prstGeom prst="rect">
            <a:avLst/>
          </a:prstGeom>
        </p:spPr>
      </p:pic>
      <p:sp>
        <p:nvSpPr>
          <p:cNvPr id="19" name="box16/text18"/>
          <p:cNvSpPr txBox="1"/>
          <p:nvPr/>
        </p:nvSpPr>
        <p:spPr>
          <a:xfrm>
            <a:off x="9011716" y="2834639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0F1E3D"/>
                </a:solidFill>
                <a:latin typeface="Segoe UI Semibold"/>
              </a:rPr>
              <a:t>Run 3</a:t>
            </a:r>
          </a:p>
        </p:txBody>
      </p:sp>
      <p:sp>
        <p:nvSpPr>
          <p:cNvPr id="20" name="box16/text19"/>
          <p:cNvSpPr txBox="1"/>
          <p:nvPr/>
        </p:nvSpPr>
        <p:spPr>
          <a:xfrm>
            <a:off x="8325916" y="3520439"/>
            <a:ext cx="308853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Fixed: login crash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(PR #482)</a:t>
            </a:r>
          </a:p>
          <a:p>
            <a:pPr algn="l">
              <a:lnSpc>
                <a:spcPts val="1700"/>
              </a:lnSpc>
              <a:spcAft>
                <a:spcPts val="800"/>
              </a:spcAft>
            </a:pPr>
            <a:r>
              <a:rPr sz="1400" b="0">
                <a:solidFill>
                  <a:srgbClr val="DC2626"/>
                </a:solidFill>
                <a:latin typeface="Consolas"/>
              </a:rPr>
              <a:t># PR #482 does not exist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DC2626"/>
                </a:solidFill>
                <a:latin typeface="Segoe UI Semibold"/>
              </a:rPr>
              <a:t>Invented PR number</a:t>
            </a:r>
          </a:p>
        </p:txBody>
      </p:sp>
      <p:sp>
        <p:nvSpPr>
          <p:cNvPr id="21" name="box20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x20/text21"/>
          <p:cNvSpPr txBox="1"/>
          <p:nvPr/>
        </p:nvSpPr>
        <p:spPr>
          <a:xfrm>
            <a:off x="685800" y="530352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Same prompt, same model, three answers. A skill fixes the procedure.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Why Skills? Context Loads on Demand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02 · WHY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6" descr="context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7320076" cy="3566308"/>
          </a:xfrm>
          <a:prstGeom prst="rect">
            <a:avLst/>
          </a:prstGeom>
        </p:spPr>
      </p:pic>
      <p:sp>
        <p:nvSpPr>
          <p:cNvPr id="8" name="text7"/>
          <p:cNvSpPr txBox="1"/>
          <p:nvPr/>
        </p:nvSpPr>
        <p:spPr>
          <a:xfrm>
            <a:off x="548640" y="5532268"/>
            <a:ext cx="7320076" cy="3198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Tokens resident in context for 10 skills. Illustrative: ~100 metadata + ~3,000 body each.</a:t>
            </a:r>
          </a:p>
        </p:txBody>
      </p:sp>
      <p:sp>
        <p:nvSpPr>
          <p:cNvPr id="9" name="box8"/>
          <p:cNvSpPr/>
          <p:nvPr/>
        </p:nvSpPr>
        <p:spPr>
          <a:xfrm>
            <a:off x="8097316" y="17373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x8/text9"/>
          <p:cNvSpPr txBox="1"/>
          <p:nvPr/>
        </p:nvSpPr>
        <p:spPr>
          <a:xfrm>
            <a:off x="8234476" y="1874519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1 · Discovery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0F1E3D"/>
                </a:solidFill>
                <a:latin typeface="Segoe UI"/>
              </a:rPr>
              <a:t>At startup, only name + description load: ~100 tokens.</a:t>
            </a:r>
          </a:p>
        </p:txBody>
      </p:sp>
      <p:sp>
        <p:nvSpPr>
          <p:cNvPr id="11" name="box10"/>
          <p:cNvSpPr/>
          <p:nvPr/>
        </p:nvSpPr>
        <p:spPr>
          <a:xfrm>
            <a:off x="8097316" y="31851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10/text11"/>
          <p:cNvSpPr txBox="1"/>
          <p:nvPr/>
        </p:nvSpPr>
        <p:spPr>
          <a:xfrm>
            <a:off x="8234476" y="3322320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2 · Activation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0F1E3D"/>
                </a:solidFill>
                <a:latin typeface="Segoe UI"/>
              </a:rPr>
              <a:t>A task matches the description; full SKILL.md loads.</a:t>
            </a:r>
          </a:p>
        </p:txBody>
      </p:sp>
      <p:sp>
        <p:nvSpPr>
          <p:cNvPr id="13" name="box12"/>
          <p:cNvSpPr/>
          <p:nvPr/>
        </p:nvSpPr>
        <p:spPr>
          <a:xfrm>
            <a:off x="8097316" y="4632960"/>
            <a:ext cx="3545738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x12/text13"/>
          <p:cNvSpPr txBox="1"/>
          <p:nvPr/>
        </p:nvSpPr>
        <p:spPr>
          <a:xfrm>
            <a:off x="8234476" y="4770120"/>
            <a:ext cx="3271418" cy="9448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0">
                <a:solidFill>
                  <a:srgbClr val="2563EB"/>
                </a:solidFill>
                <a:latin typeface="Segoe UI Semibold"/>
              </a:rPr>
              <a:t>3 · Execution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0F1E3D"/>
                </a:solidFill>
                <a:latin typeface="Segoe UI"/>
              </a:rPr>
              <a:t>Agent follows steps; runs scripts or reads files as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Why Skills? What Teams Gain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02 · WHY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260215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box6/img7" descr="badge_bulb_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640080" cy="640080"/>
          </a:xfrm>
          <a:prstGeom prst="rect">
            <a:avLst/>
          </a:prstGeom>
        </p:spPr>
      </p:pic>
      <p:sp>
        <p:nvSpPr>
          <p:cNvPr id="9" name="box6/text8"/>
          <p:cNvSpPr txBox="1"/>
          <p:nvPr/>
        </p:nvSpPr>
        <p:spPr>
          <a:xfrm>
            <a:off x="777240" y="2834639"/>
            <a:ext cx="2144953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800" b="0">
                <a:solidFill>
                  <a:srgbClr val="1D4ED8"/>
                </a:solidFill>
                <a:latin typeface="Segoe UI Semibold"/>
              </a:rPr>
              <a:t>Domain expertise</a:t>
            </a:r>
          </a:p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Capture specialist processes as reusable instructions and resources.</a:t>
            </a:r>
          </a:p>
        </p:txBody>
      </p:sp>
      <p:sp>
        <p:nvSpPr>
          <p:cNvPr id="10" name="box9"/>
          <p:cNvSpPr/>
          <p:nvPr/>
        </p:nvSpPr>
        <p:spPr>
          <a:xfrm>
            <a:off x="3379393" y="1737360"/>
            <a:ext cx="260215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box9/img10" descr="badge_checklist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993" y="1965960"/>
            <a:ext cx="640080" cy="640080"/>
          </a:xfrm>
          <a:prstGeom prst="rect">
            <a:avLst/>
          </a:prstGeom>
        </p:spPr>
      </p:pic>
      <p:sp>
        <p:nvSpPr>
          <p:cNvPr id="12" name="box9/text11"/>
          <p:cNvSpPr txBox="1"/>
          <p:nvPr/>
        </p:nvSpPr>
        <p:spPr>
          <a:xfrm>
            <a:off x="3607993" y="2834639"/>
            <a:ext cx="2144953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800" b="0">
                <a:solidFill>
                  <a:srgbClr val="1D4ED8"/>
                </a:solidFill>
                <a:latin typeface="Segoe UI Semibold"/>
              </a:rPr>
              <a:t>Repeatable workflows</a:t>
            </a:r>
          </a:p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Turn multi-step tasks into consistent, auditable procedures.</a:t>
            </a:r>
          </a:p>
        </p:txBody>
      </p:sp>
      <p:sp>
        <p:nvSpPr>
          <p:cNvPr id="13" name="box12"/>
          <p:cNvSpPr/>
          <p:nvPr/>
        </p:nvSpPr>
        <p:spPr>
          <a:xfrm>
            <a:off x="6210147" y="1737360"/>
            <a:ext cx="260215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box12/img13" descr="badge_link_sk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747" y="1965960"/>
            <a:ext cx="640080" cy="640080"/>
          </a:xfrm>
          <a:prstGeom prst="rect">
            <a:avLst/>
          </a:prstGeom>
        </p:spPr>
      </p:pic>
      <p:sp>
        <p:nvSpPr>
          <p:cNvPr id="15" name="box12/text14"/>
          <p:cNvSpPr txBox="1"/>
          <p:nvPr/>
        </p:nvSpPr>
        <p:spPr>
          <a:xfrm>
            <a:off x="6438747" y="2834639"/>
            <a:ext cx="2144953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800" b="0">
                <a:solidFill>
                  <a:srgbClr val="1D4ED8"/>
                </a:solidFill>
                <a:latin typeface="Segoe UI Semibold"/>
              </a:rPr>
              <a:t>Reusable anywhere</a:t>
            </a:r>
          </a:p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Build once, then use it in any compatible agent.</a:t>
            </a:r>
          </a:p>
        </p:txBody>
      </p:sp>
      <p:sp>
        <p:nvSpPr>
          <p:cNvPr id="16" name="box15"/>
          <p:cNvSpPr/>
          <p:nvPr/>
        </p:nvSpPr>
        <p:spPr>
          <a:xfrm>
            <a:off x="9040901" y="1737360"/>
            <a:ext cx="260215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box15/img16" descr="badge_filter_ski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501" y="1965960"/>
            <a:ext cx="640080" cy="640080"/>
          </a:xfrm>
          <a:prstGeom prst="rect">
            <a:avLst/>
          </a:prstGeom>
        </p:spPr>
      </p:pic>
      <p:sp>
        <p:nvSpPr>
          <p:cNvPr id="18" name="box15/text17"/>
          <p:cNvSpPr txBox="1"/>
          <p:nvPr/>
        </p:nvSpPr>
        <p:spPr>
          <a:xfrm>
            <a:off x="9269501" y="2834639"/>
            <a:ext cx="2144953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800"/>
              </a:spcAft>
            </a:pPr>
            <a:r>
              <a:rPr sz="1800" b="0">
                <a:solidFill>
                  <a:srgbClr val="1D4ED8"/>
                </a:solidFill>
                <a:latin typeface="Segoe UI Semibold"/>
              </a:rPr>
              <a:t>Small context</a:t>
            </a:r>
          </a:p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Many skills on hand; full instructions load only when needed.</a:t>
            </a:r>
          </a:p>
        </p:txBody>
      </p:sp>
      <p:sp>
        <p:nvSpPr>
          <p:cNvPr id="19" name="box18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x18/text19"/>
          <p:cNvSpPr txBox="1"/>
          <p:nvPr/>
        </p:nvSpPr>
        <p:spPr>
          <a:xfrm>
            <a:off x="685800" y="530352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Write the procedure once. Every agent run follows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How to Write a Skill in 3 Steps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03 · WRITE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6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A9B6C8"/>
                </a:solidFill>
                <a:latin typeface="Segoe UI"/>
              </a:rPr>
              <a:t>Then iterate: every stumble on messy input becomes an edge-case entry.</a:t>
            </a:r>
          </a:p>
        </p:txBody>
      </p:sp>
      <p:sp>
        <p:nvSpPr>
          <p:cNvPr id="8" name="box7"/>
          <p:cNvSpPr/>
          <p:nvPr/>
        </p:nvSpPr>
        <p:spPr>
          <a:xfrm>
            <a:off x="548640" y="1737360"/>
            <a:ext cx="3545738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box7/img8" descr="badge_doc_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640080" cy="640080"/>
          </a:xfrm>
          <a:prstGeom prst="rect">
            <a:avLst/>
          </a:prstGeom>
        </p:spPr>
      </p:pic>
      <p:sp>
        <p:nvSpPr>
          <p:cNvPr id="10" name="box7/text9"/>
          <p:cNvSpPr txBox="1"/>
          <p:nvPr/>
        </p:nvSpPr>
        <p:spPr>
          <a:xfrm>
            <a:off x="1645919" y="1965960"/>
            <a:ext cx="221985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Create the folder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Step 1  ·  ≈ 2 min</a:t>
            </a:r>
          </a:p>
        </p:txBody>
      </p:sp>
      <p:sp>
        <p:nvSpPr>
          <p:cNvPr id="11" name="box7/text10"/>
          <p:cNvSpPr txBox="1"/>
          <p:nvPr/>
        </p:nvSpPr>
        <p:spPr>
          <a:xfrm>
            <a:off x="777240" y="2834639"/>
            <a:ext cx="3088538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.agents/skills/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writing-standups/</a:t>
            </a:r>
          </a:p>
          <a:p>
            <a:pPr algn="l">
              <a:lnSpc>
                <a:spcPts val="1700"/>
              </a:lnSpc>
              <a:spcAft>
                <a:spcPts val="14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  SKILL.md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Folder name = name field.</a:t>
            </a:r>
          </a:p>
        </p:txBody>
      </p:sp>
      <p:sp>
        <p:nvSpPr>
          <p:cNvPr id="12" name="box11"/>
          <p:cNvSpPr/>
          <p:nvPr/>
        </p:nvSpPr>
        <p:spPr>
          <a:xfrm>
            <a:off x="4322978" y="1737360"/>
            <a:ext cx="3545738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box11/img12" descr="badge_edit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578" y="1965960"/>
            <a:ext cx="640080" cy="640080"/>
          </a:xfrm>
          <a:prstGeom prst="rect">
            <a:avLst/>
          </a:prstGeom>
        </p:spPr>
      </p:pic>
      <p:sp>
        <p:nvSpPr>
          <p:cNvPr id="14" name="box11/text13"/>
          <p:cNvSpPr txBox="1"/>
          <p:nvPr/>
        </p:nvSpPr>
        <p:spPr>
          <a:xfrm>
            <a:off x="5420258" y="1965960"/>
            <a:ext cx="221985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Write the body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Step 2  ·  ≈ 5 min</a:t>
            </a:r>
          </a:p>
        </p:txBody>
      </p:sp>
      <p:sp>
        <p:nvSpPr>
          <p:cNvPr id="15" name="box11/text14"/>
          <p:cNvSpPr txBox="1"/>
          <p:nvPr/>
        </p:nvSpPr>
        <p:spPr>
          <a:xfrm>
            <a:off x="4551578" y="2834639"/>
            <a:ext cx="3088538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## Steps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1. Read today's commits.</a:t>
            </a:r>
          </a:p>
          <a:p>
            <a:pPr algn="l">
              <a:lnSpc>
                <a:spcPts val="1700"/>
              </a:lnSpc>
              <a:spcAft>
                <a:spcPts val="14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2. Group by ticket.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Verb-first steps + checklist.</a:t>
            </a:r>
          </a:p>
        </p:txBody>
      </p:sp>
      <p:sp>
        <p:nvSpPr>
          <p:cNvPr id="16" name="box15"/>
          <p:cNvSpPr/>
          <p:nvPr/>
        </p:nvSpPr>
        <p:spPr>
          <a:xfrm>
            <a:off x="8097316" y="1737360"/>
            <a:ext cx="3545738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box15/img16" descr="badge_play_sk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916" y="1965960"/>
            <a:ext cx="640080" cy="640080"/>
          </a:xfrm>
          <a:prstGeom prst="rect">
            <a:avLst/>
          </a:prstGeom>
        </p:spPr>
      </p:pic>
      <p:sp>
        <p:nvSpPr>
          <p:cNvPr id="18" name="box15/text17"/>
          <p:cNvSpPr txBox="1"/>
          <p:nvPr/>
        </p:nvSpPr>
        <p:spPr>
          <a:xfrm>
            <a:off x="9194596" y="1965960"/>
            <a:ext cx="221985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Describe, then test</a:t>
            </a:r>
          </a:p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Step 3  ·  ≈ 3 min</a:t>
            </a:r>
          </a:p>
        </p:txBody>
      </p:sp>
      <p:sp>
        <p:nvSpPr>
          <p:cNvPr id="19" name="box15/text18"/>
          <p:cNvSpPr txBox="1"/>
          <p:nvPr/>
        </p:nvSpPr>
        <p:spPr>
          <a:xfrm>
            <a:off x="8325916" y="2834639"/>
            <a:ext cx="3088538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description: Drafts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standup notes. Use</a:t>
            </a:r>
          </a:p>
          <a:p>
            <a:pPr algn="l">
              <a:lnSpc>
                <a:spcPts val="1700"/>
              </a:lnSpc>
              <a:spcAft>
                <a:spcPts val="14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when asked for...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Try 3 phrasings, fresh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Write a Description That Triggers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03 · WRITE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5432907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box6/img7" descr="badge_cancel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457200" cy="457200"/>
          </a:xfrm>
          <a:prstGeom prst="rect">
            <a:avLst/>
          </a:prstGeom>
        </p:spPr>
      </p:pic>
      <p:sp>
        <p:nvSpPr>
          <p:cNvPr id="9" name="box6/text8"/>
          <p:cNvSpPr txBox="1"/>
          <p:nvPr/>
        </p:nvSpPr>
        <p:spPr>
          <a:xfrm>
            <a:off x="1463040" y="1965960"/>
            <a:ext cx="428990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DC2626"/>
                </a:solidFill>
                <a:latin typeface="Segoe UI Semibold"/>
              </a:rPr>
              <a:t>BAD</a:t>
            </a:r>
          </a:p>
        </p:txBody>
      </p:sp>
      <p:sp>
        <p:nvSpPr>
          <p:cNvPr id="10" name="box6/text9"/>
          <p:cNvSpPr txBox="1"/>
          <p:nvPr/>
        </p:nvSpPr>
        <p:spPr>
          <a:xfrm>
            <a:off x="777240" y="2651760"/>
            <a:ext cx="4975707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2563EB"/>
                </a:solidFill>
                <a:latin typeface="Consolas"/>
              </a:rPr>
              <a:t>description: </a:t>
            </a:r>
            <a:r>
              <a:rPr sz="1400" b="0">
                <a:solidFill>
                  <a:srgbClr val="0F1E3D"/>
                </a:solidFill>
                <a:latin typeface="Consolas"/>
              </a:rPr>
              <a:t>Helps with</a:t>
            </a:r>
          </a:p>
          <a:p>
            <a:pPr algn="l">
              <a:lnSpc>
                <a:spcPts val="1700"/>
              </a:lnSpc>
              <a:spcAft>
                <a:spcPts val="1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documentation.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DC2626"/>
                </a:solidFill>
                <a:latin typeface="Segoe UI Semibold"/>
              </a:rPr>
              <a:t>Vague: the router has nothing to match.</a:t>
            </a:r>
          </a:p>
        </p:txBody>
      </p:sp>
      <p:sp>
        <p:nvSpPr>
          <p:cNvPr id="11" name="box10"/>
          <p:cNvSpPr/>
          <p:nvPr/>
        </p:nvSpPr>
        <p:spPr>
          <a:xfrm>
            <a:off x="6210147" y="1737360"/>
            <a:ext cx="5432907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box10/img11" descr="badge_check_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747" y="1965960"/>
            <a:ext cx="457200" cy="457200"/>
          </a:xfrm>
          <a:prstGeom prst="rect">
            <a:avLst/>
          </a:prstGeom>
        </p:spPr>
      </p:pic>
      <p:sp>
        <p:nvSpPr>
          <p:cNvPr id="13" name="box10/text12"/>
          <p:cNvSpPr txBox="1"/>
          <p:nvPr/>
        </p:nvSpPr>
        <p:spPr>
          <a:xfrm>
            <a:off x="7124547" y="1965960"/>
            <a:ext cx="428990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047857"/>
                </a:solidFill>
                <a:latin typeface="Segoe UI Semibold"/>
              </a:rPr>
              <a:t>GOOD</a:t>
            </a:r>
          </a:p>
        </p:txBody>
      </p:sp>
      <p:sp>
        <p:nvSpPr>
          <p:cNvPr id="14" name="box10/text13"/>
          <p:cNvSpPr txBox="1"/>
          <p:nvPr/>
        </p:nvSpPr>
        <p:spPr>
          <a:xfrm>
            <a:off x="6438747" y="2651760"/>
            <a:ext cx="4975707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2563EB"/>
                </a:solidFill>
                <a:latin typeface="Consolas"/>
              </a:rPr>
              <a:t>description: </a:t>
            </a:r>
            <a:r>
              <a:rPr sz="1400" b="0">
                <a:solidFill>
                  <a:srgbClr val="0F1E3D"/>
                </a:solidFill>
                <a:latin typeface="Consolas"/>
              </a:rPr>
              <a:t>Creates professional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README.md files. Use when the user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asks to write, generate, or improve</a:t>
            </a:r>
          </a:p>
          <a:p>
            <a:pPr algn="l">
              <a:lnSpc>
                <a:spcPts val="1700"/>
              </a:lnSpc>
              <a:spcAft>
                <a:spcPts val="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a README, project docs, or a repo</a:t>
            </a:r>
          </a:p>
          <a:p>
            <a:pPr algn="l">
              <a:lnSpc>
                <a:spcPts val="1700"/>
              </a:lnSpc>
              <a:spcAft>
                <a:spcPts val="12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  landing page.</a:t>
            </a:r>
          </a:p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47857"/>
                </a:solidFill>
                <a:latin typeface="Segoe UI Semibold"/>
              </a:rPr>
              <a:t>What + when + words users actually type.</a:t>
            </a:r>
          </a:p>
        </p:txBody>
      </p:sp>
      <p:sp>
        <p:nvSpPr>
          <p:cNvPr id="15" name="box14"/>
          <p:cNvSpPr/>
          <p:nvPr/>
        </p:nvSpPr>
        <p:spPr>
          <a:xfrm>
            <a:off x="548640" y="4937760"/>
            <a:ext cx="3545738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x14/text15"/>
          <p:cNvSpPr txBox="1"/>
          <p:nvPr/>
        </p:nvSpPr>
        <p:spPr>
          <a:xfrm>
            <a:off x="731520" y="512064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1   </a:t>
            </a:r>
            <a:r>
              <a:rPr sz="1800" b="0">
                <a:solidFill>
                  <a:srgbClr val="0F1E3D"/>
                </a:solidFill>
                <a:latin typeface="Segoe UI"/>
              </a:rPr>
              <a:t>Write it last, for the router.</a:t>
            </a:r>
          </a:p>
        </p:txBody>
      </p:sp>
      <p:sp>
        <p:nvSpPr>
          <p:cNvPr id="17" name="box16"/>
          <p:cNvSpPr/>
          <p:nvPr/>
        </p:nvSpPr>
        <p:spPr>
          <a:xfrm>
            <a:off x="4322978" y="4937760"/>
            <a:ext cx="3545738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x16/text17"/>
          <p:cNvSpPr txBox="1"/>
          <p:nvPr/>
        </p:nvSpPr>
        <p:spPr>
          <a:xfrm>
            <a:off x="4505858" y="512064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2   </a:t>
            </a:r>
            <a:r>
              <a:rPr sz="1800" b="0">
                <a:solidFill>
                  <a:srgbClr val="0F1E3D"/>
                </a:solidFill>
                <a:latin typeface="Segoe UI"/>
              </a:rPr>
              <a:t>Third person: what + when.</a:t>
            </a:r>
          </a:p>
        </p:txBody>
      </p:sp>
      <p:sp>
        <p:nvSpPr>
          <p:cNvPr id="19" name="box18"/>
          <p:cNvSpPr/>
          <p:nvPr/>
        </p:nvSpPr>
        <p:spPr>
          <a:xfrm>
            <a:off x="8097316" y="4937760"/>
            <a:ext cx="3545738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x18/text19"/>
          <p:cNvSpPr txBox="1"/>
          <p:nvPr/>
        </p:nvSpPr>
        <p:spPr>
          <a:xfrm>
            <a:off x="8280196" y="512064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3   </a:t>
            </a:r>
            <a:r>
              <a:rPr sz="1800" b="0">
                <a:solidFill>
                  <a:srgbClr val="0F1E3D"/>
                </a:solidFill>
                <a:latin typeface="Segoe UI"/>
              </a:rPr>
              <a:t>Add 3+ user phrasings.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Debug a Skill That Misbehaves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03 · WRITE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6"/>
          <p:cNvGraphicFramePr>
            <a:graphicFrameLocks noGrp="1"/>
          </p:cNvGraphicFramePr>
          <p:nvPr/>
        </p:nvGraphicFramePr>
        <p:xfrm>
          <a:off x="548640" y="1737360"/>
          <a:ext cx="11094415" cy="3337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3566160"/>
                <a:gridCol w="423641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FCA5A5"/>
                          </a:solidFill>
                          <a:latin typeface="Segoe UI Semibold"/>
                        </a:rPr>
                        <a:t>Symptom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Segoe UI Semibold"/>
                        </a:rPr>
                        <a:t>Root cause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6EE7B7"/>
                          </a:solidFill>
                          <a:latin typeface="Segoe UI Semibold"/>
                        </a:rPr>
                        <a:t>Fix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 Semibold"/>
                        </a:rPr>
                        <a:t>Never activates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Description too vague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Add “Use when…” + trigger phrases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 Semibold"/>
                        </a:rPr>
                        <a:t>Fires on unrelated asks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Description too broad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Narrow scope, add exclusions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 Semibold"/>
                        </a:rPr>
                        <a:t>Silently never loads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name ≠ folder name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Make them identical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 Semibold"/>
                        </a:rPr>
                        <a:t>Loads, ignores steps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Body is prose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Rewrite as numbered imperatives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 Semibold"/>
                        </a:rPr>
                        <a:t>Output varies each run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No constraints or checklist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Add constraints + verify list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How to Use an Existing Skill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04 · USE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222496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box6/img7" descr="badge_search_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548640" cy="548640"/>
          </a:xfrm>
          <a:prstGeom prst="rect">
            <a:avLst/>
          </a:prstGeom>
        </p:spPr>
      </p:pic>
      <p:sp>
        <p:nvSpPr>
          <p:cNvPr id="9" name="box6/text8"/>
          <p:cNvSpPr txBox="1"/>
          <p:nvPr/>
        </p:nvSpPr>
        <p:spPr>
          <a:xfrm>
            <a:off x="1508760" y="1920240"/>
            <a:ext cx="108196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Find</a:t>
            </a:r>
          </a:p>
        </p:txBody>
      </p:sp>
      <p:sp>
        <p:nvSpPr>
          <p:cNvPr id="10" name="box6/text9"/>
          <p:cNvSpPr txBox="1"/>
          <p:nvPr/>
        </p:nvSpPr>
        <p:spPr>
          <a:xfrm>
            <a:off x="731520" y="2697480"/>
            <a:ext cx="1859203" cy="1051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Team repo, anthropics/skills, or a public catalog.</a:t>
            </a:r>
          </a:p>
        </p:txBody>
      </p:sp>
      <p:sp>
        <p:nvSpPr>
          <p:cNvPr id="11" name="box10"/>
          <p:cNvSpPr/>
          <p:nvPr/>
        </p:nvSpPr>
        <p:spPr>
          <a:xfrm>
            <a:off x="3002203" y="2697480"/>
            <a:ext cx="27432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11"/>
          <p:cNvSpPr/>
          <p:nvPr/>
        </p:nvSpPr>
        <p:spPr>
          <a:xfrm>
            <a:off x="3505123" y="1737360"/>
            <a:ext cx="222496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box11/img12" descr="badge_library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03" y="1920240"/>
            <a:ext cx="548640" cy="548640"/>
          </a:xfrm>
          <a:prstGeom prst="rect">
            <a:avLst/>
          </a:prstGeom>
        </p:spPr>
      </p:pic>
      <p:sp>
        <p:nvSpPr>
          <p:cNvPr id="14" name="box11/text13"/>
          <p:cNvSpPr txBox="1"/>
          <p:nvPr/>
        </p:nvSpPr>
        <p:spPr>
          <a:xfrm>
            <a:off x="4465243" y="1920240"/>
            <a:ext cx="108196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Install</a:t>
            </a:r>
          </a:p>
        </p:txBody>
      </p:sp>
      <p:sp>
        <p:nvSpPr>
          <p:cNvPr id="15" name="box11/text14"/>
          <p:cNvSpPr txBox="1"/>
          <p:nvPr/>
        </p:nvSpPr>
        <p:spPr>
          <a:xfrm>
            <a:off x="3688003" y="2697480"/>
            <a:ext cx="1859203" cy="1051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Copy the folder into .agents/skills/ or use the CLI.</a:t>
            </a:r>
          </a:p>
        </p:txBody>
      </p:sp>
      <p:sp>
        <p:nvSpPr>
          <p:cNvPr id="16" name="box15"/>
          <p:cNvSpPr/>
          <p:nvPr/>
        </p:nvSpPr>
        <p:spPr>
          <a:xfrm>
            <a:off x="5958687" y="2697480"/>
            <a:ext cx="27432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x16"/>
          <p:cNvSpPr/>
          <p:nvPr/>
        </p:nvSpPr>
        <p:spPr>
          <a:xfrm>
            <a:off x="6461607" y="1737360"/>
            <a:ext cx="222496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box16/img17" descr="badge_flash_sk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7" y="1920240"/>
            <a:ext cx="548640" cy="548640"/>
          </a:xfrm>
          <a:prstGeom prst="rect">
            <a:avLst/>
          </a:prstGeom>
        </p:spPr>
      </p:pic>
      <p:sp>
        <p:nvSpPr>
          <p:cNvPr id="19" name="box16/text18"/>
          <p:cNvSpPr txBox="1"/>
          <p:nvPr/>
        </p:nvSpPr>
        <p:spPr>
          <a:xfrm>
            <a:off x="7421727" y="1920240"/>
            <a:ext cx="108196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Invoke</a:t>
            </a:r>
          </a:p>
        </p:txBody>
      </p:sp>
      <p:sp>
        <p:nvSpPr>
          <p:cNvPr id="20" name="box16/text19"/>
          <p:cNvSpPr txBox="1"/>
          <p:nvPr/>
        </p:nvSpPr>
        <p:spPr>
          <a:xfrm>
            <a:off x="6644487" y="2697480"/>
            <a:ext cx="1859203" cy="1051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Ask naturally, or type /skill-name to force it.</a:t>
            </a:r>
          </a:p>
        </p:txBody>
      </p:sp>
      <p:sp>
        <p:nvSpPr>
          <p:cNvPr id="21" name="box20"/>
          <p:cNvSpPr/>
          <p:nvPr/>
        </p:nvSpPr>
        <p:spPr>
          <a:xfrm>
            <a:off x="8915171" y="2697480"/>
            <a:ext cx="27432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x21"/>
          <p:cNvSpPr/>
          <p:nvPr/>
        </p:nvSpPr>
        <p:spPr>
          <a:xfrm>
            <a:off x="9418091" y="1737360"/>
            <a:ext cx="222496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box21/img22" descr="badge_edit_ski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0971" y="1920240"/>
            <a:ext cx="548640" cy="548640"/>
          </a:xfrm>
          <a:prstGeom prst="rect">
            <a:avLst/>
          </a:prstGeom>
        </p:spPr>
      </p:pic>
      <p:sp>
        <p:nvSpPr>
          <p:cNvPr id="24" name="box21/text23"/>
          <p:cNvSpPr txBox="1"/>
          <p:nvPr/>
        </p:nvSpPr>
        <p:spPr>
          <a:xfrm>
            <a:off x="10378211" y="1920240"/>
            <a:ext cx="108196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Adapt</a:t>
            </a:r>
          </a:p>
        </p:txBody>
      </p:sp>
      <p:sp>
        <p:nvSpPr>
          <p:cNvPr id="25" name="box21/text24"/>
          <p:cNvSpPr txBox="1"/>
          <p:nvPr/>
        </p:nvSpPr>
        <p:spPr>
          <a:xfrm>
            <a:off x="9600971" y="2697480"/>
            <a:ext cx="1859203" cy="10515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Aft>
                <a:spcPts val="0"/>
              </a:spcAft>
            </a:pPr>
            <a:r>
              <a:rPr sz="1600" b="0">
                <a:solidFill>
                  <a:srgbClr val="0F1E3D"/>
                </a:solidFill>
                <a:latin typeface="Segoe UI"/>
              </a:rPr>
              <a:t>Edit steps to your conventions, then commit.</a:t>
            </a:r>
          </a:p>
        </p:txBody>
      </p:sp>
      <p:sp>
        <p:nvSpPr>
          <p:cNvPr id="26" name="box25"/>
          <p:cNvSpPr/>
          <p:nvPr/>
        </p:nvSpPr>
        <p:spPr>
          <a:xfrm>
            <a:off x="548640" y="4160520"/>
            <a:ext cx="7320076" cy="1691640"/>
          </a:xfrm>
          <a:prstGeom prst="roundRect">
            <a:avLst>
              <a:gd name="adj" fmla="val 6000"/>
            </a:avLst>
          </a:prstGeom>
          <a:solidFill>
            <a:srgbClr val="17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x25/text26"/>
          <p:cNvSpPr txBox="1"/>
          <p:nvPr/>
        </p:nvSpPr>
        <p:spPr>
          <a:xfrm>
            <a:off x="868680" y="4480559"/>
            <a:ext cx="6679996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# install a published skill into this repo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7DD3FC"/>
                </a:solidFill>
                <a:latin typeface="Consolas"/>
              </a:rPr>
              <a:t>npx skills add </a:t>
            </a:r>
            <a:r>
              <a:rPr sz="1400" b="0">
                <a:solidFill>
                  <a:srgbClr val="E2E8F0"/>
                </a:solidFill>
                <a:latin typeface="Consolas"/>
              </a:rPr>
              <a:t>anthropics/skills --skill pdf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# or invoke one by name in Agent chat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3C5FD"/>
                </a:solidFill>
                <a:latin typeface="Consolas"/>
              </a:rPr>
              <a:t>/writing-release-notes </a:t>
            </a:r>
            <a:r>
              <a:rPr sz="1400" b="0">
                <a:solidFill>
                  <a:srgbClr val="E2E8F0"/>
                </a:solidFill>
                <a:latin typeface="Consolas"/>
              </a:rPr>
              <a:t>for v2.1</a:t>
            </a:r>
          </a:p>
        </p:txBody>
      </p:sp>
      <p:sp>
        <p:nvSpPr>
          <p:cNvPr id="28" name="box27"/>
          <p:cNvSpPr/>
          <p:nvPr/>
        </p:nvSpPr>
        <p:spPr>
          <a:xfrm>
            <a:off x="8097316" y="416052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box27/img28" descr="badge_warn_neut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196" y="4343400"/>
            <a:ext cx="457200" cy="457200"/>
          </a:xfrm>
          <a:prstGeom prst="rect">
            <a:avLst/>
          </a:prstGeom>
        </p:spPr>
      </p:pic>
      <p:sp>
        <p:nvSpPr>
          <p:cNvPr id="30" name="box27/text29"/>
          <p:cNvSpPr txBox="1"/>
          <p:nvPr/>
        </p:nvSpPr>
        <p:spPr>
          <a:xfrm>
            <a:off x="8965996" y="4343400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Read before you run</a:t>
            </a:r>
          </a:p>
        </p:txBody>
      </p:sp>
      <p:sp>
        <p:nvSpPr>
          <p:cNvPr id="31" name="box27/text30"/>
          <p:cNvSpPr txBox="1"/>
          <p:nvPr/>
        </p:nvSpPr>
        <p:spPr>
          <a:xfrm>
            <a:off x="8280196" y="5029200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Skills can include scripts. Review SKILL.md and scripts/ like any dependency.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Where Skills Live in Each Tool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04 · USE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6"/>
          <p:cNvGraphicFramePr>
            <a:graphicFrameLocks noGrp="1"/>
          </p:cNvGraphicFramePr>
          <p:nvPr/>
        </p:nvGraphicFramePr>
        <p:xfrm>
          <a:off x="548640" y="1737360"/>
          <a:ext cx="11094415" cy="2971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4389120"/>
                <a:gridCol w="377921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Host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Skill locations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Invocation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 Semibold"/>
                        </a:rPr>
                        <a:t>Claude Code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.claude/skills/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Auto, or /skill-name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 Semibold"/>
                        </a:rPr>
                        <a:t>Cursor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.cursor/ or .agents/skills/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Auto, or / in Agent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 Semibold"/>
                        </a:rPr>
                        <a:t>OpenAI Codex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.agents/skills/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Auto by description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 Semibold"/>
                        </a:rPr>
                        <a:t>GitHub Copilot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.github/skills/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Auto by description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 Semibold"/>
                        </a:rPr>
                        <a:t>Gemini CLI, Cline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Often .agents/skills/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F1E3D"/>
                          </a:solidFill>
                          <a:latin typeface="Segoe UI"/>
                        </a:rPr>
                        <a:t>Varies by host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7"/>
          <p:cNvSpPr txBox="1"/>
          <p:nvPr/>
        </p:nvSpPr>
        <p:spPr>
          <a:xfrm>
            <a:off x="548640" y="49377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93C5FD"/>
                </a:solidFill>
                <a:latin typeface="Segoe UI Semibold"/>
              </a:rPr>
              <a:t>More clients in the showcase at agentskills.io/clients.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Using Skills in Cursor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Segoe UI Semibold"/>
              </a:rPr>
              <a:t>04 · USE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4489323" cy="4114800"/>
          </a:xfrm>
          <a:prstGeom prst="roundRect">
            <a:avLst>
              <a:gd name="adj" fmla="val 6000"/>
            </a:avLst>
          </a:prstGeom>
          <a:solidFill>
            <a:srgbClr val="17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text7"/>
          <p:cNvSpPr txBox="1"/>
          <p:nvPr/>
        </p:nvSpPr>
        <p:spPr>
          <a:xfrm>
            <a:off x="868680" y="2057400"/>
            <a:ext cx="3849243" cy="3474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your-repo/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├── .cursor/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3C5FD"/>
                </a:solidFill>
                <a:latin typeface="Consolas"/>
              </a:rPr>
              <a:t>│   └── skills/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    ├── reviewing-pull-requests/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    │   └── </a:t>
            </a:r>
            <a:r>
              <a:rPr sz="1400" b="0">
                <a:solidFill>
                  <a:srgbClr val="93C5FD"/>
                </a:solidFill>
                <a:latin typeface="Consolas"/>
              </a:rPr>
              <a:t>SKILL.md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    └── writing-release-notes/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│           └── </a:t>
            </a:r>
            <a:r>
              <a:rPr sz="1400" b="0">
                <a:solidFill>
                  <a:srgbClr val="93C5FD"/>
                </a:solidFill>
                <a:latin typeface="Consolas"/>
              </a:rPr>
              <a:t>SKILL.md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└── src/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# In Agent chat</a:t>
            </a:r>
          </a:p>
          <a:p>
            <a:pPr algn="l">
              <a:lnSpc>
                <a:spcPts val="1700"/>
              </a:lnSpc>
              <a:spcAft>
                <a:spcPts val="400"/>
              </a:spcAft>
            </a:pPr>
            <a:r>
              <a:rPr sz="1400" b="0">
                <a:solidFill>
                  <a:srgbClr val="93C5FD"/>
                </a:solidFill>
                <a:latin typeface="Consolas"/>
              </a:rPr>
              <a:t>/reviewing-pull-requests</a:t>
            </a:r>
          </a:p>
        </p:txBody>
      </p:sp>
      <p:sp>
        <p:nvSpPr>
          <p:cNvPr id="9" name="text8"/>
          <p:cNvSpPr txBox="1"/>
          <p:nvPr/>
        </p:nvSpPr>
        <p:spPr>
          <a:xfrm>
            <a:off x="5266562" y="1737360"/>
            <a:ext cx="6376492" cy="411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900"/>
              </a:lnSpc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Segoe UI Semibold"/>
              </a:rPr>
              <a:t>Procedures that ship with the repo</a:t>
            </a:r>
          </a:p>
          <a:p>
            <a:pPr algn="l" marL="320040" indent="-320040">
              <a:lnSpc>
                <a:spcPts val="22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Project skills: .cursor/skills/ inside the repo.</a:t>
            </a:r>
          </a:p>
          <a:p>
            <a:pPr algn="l" marL="320040" indent="-320040">
              <a:lnSpc>
                <a:spcPts val="22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Personal skills: ~/.cursor/skills/ across all projects.</a:t>
            </a:r>
          </a:p>
          <a:p>
            <a:pPr algn="l" marL="320040" indent="-320040">
              <a:lnSpc>
                <a:spcPts val="22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Agent auto-selects a skill when a request matches.</a:t>
            </a:r>
          </a:p>
          <a:p>
            <a:pPr algn="l" marL="320040" indent="-320040">
              <a:lnSpc>
                <a:spcPts val="22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Type / in Agent chat to run one by name.</a:t>
            </a:r>
          </a:p>
          <a:p>
            <a:pPr algn="l" marL="320040" indent="-320040">
              <a:lnSpc>
                <a:spcPts val="22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800" b="0">
                <a:solidFill>
                  <a:srgbClr val="FFFFFF"/>
                </a:solidFill>
                <a:latin typeface="Segoe UI"/>
              </a:rPr>
              <a:t>MCP servers add live tools in the same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MCP: What the Agent Can Reach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DBA74"/>
                </a:solidFill>
                <a:latin typeface="Segoe UI Semibold"/>
              </a:rPr>
              <a:t>05 · WITH MCP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2156383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1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text7"/>
          <p:cNvSpPr txBox="1"/>
          <p:nvPr/>
        </p:nvSpPr>
        <p:spPr>
          <a:xfrm>
            <a:off x="685800" y="1874519"/>
            <a:ext cx="1882063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Host</a:t>
            </a:r>
          </a:p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Cursor, Claude Code</a:t>
            </a:r>
          </a:p>
        </p:txBody>
      </p:sp>
      <p:sp>
        <p:nvSpPr>
          <p:cNvPr id="9" name="box8"/>
          <p:cNvSpPr/>
          <p:nvPr/>
        </p:nvSpPr>
        <p:spPr>
          <a:xfrm>
            <a:off x="2933623" y="2103120"/>
            <a:ext cx="3657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x9"/>
          <p:cNvSpPr/>
          <p:nvPr/>
        </p:nvSpPr>
        <p:spPr>
          <a:xfrm>
            <a:off x="3527983" y="1737360"/>
            <a:ext cx="2156383" cy="100584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x9/text10"/>
          <p:cNvSpPr txBox="1"/>
          <p:nvPr/>
        </p:nvSpPr>
        <p:spPr>
          <a:xfrm>
            <a:off x="3665143" y="1874519"/>
            <a:ext cx="1882063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C2410C"/>
                </a:solidFill>
                <a:latin typeface="Segoe UI Semibold"/>
              </a:rPr>
              <a:t>MCP Client</a:t>
            </a:r>
          </a:p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1:1 link per server</a:t>
            </a:r>
          </a:p>
        </p:txBody>
      </p:sp>
      <p:sp>
        <p:nvSpPr>
          <p:cNvPr id="12" name="box11"/>
          <p:cNvSpPr/>
          <p:nvPr/>
        </p:nvSpPr>
        <p:spPr>
          <a:xfrm>
            <a:off x="5912967" y="2103120"/>
            <a:ext cx="3657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x12"/>
          <p:cNvSpPr/>
          <p:nvPr/>
        </p:nvSpPr>
        <p:spPr>
          <a:xfrm>
            <a:off x="6507327" y="1737360"/>
            <a:ext cx="2156383" cy="100584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x12/text13"/>
          <p:cNvSpPr txBox="1"/>
          <p:nvPr/>
        </p:nvSpPr>
        <p:spPr>
          <a:xfrm>
            <a:off x="6644487" y="1874519"/>
            <a:ext cx="1882063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C2410C"/>
                </a:solidFill>
                <a:latin typeface="Segoe UI Semibold"/>
              </a:rPr>
              <a:t>MCP Server</a:t>
            </a:r>
          </a:p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Exposes capabilities</a:t>
            </a:r>
          </a:p>
        </p:txBody>
      </p:sp>
      <p:sp>
        <p:nvSpPr>
          <p:cNvPr id="15" name="box14"/>
          <p:cNvSpPr/>
          <p:nvPr/>
        </p:nvSpPr>
        <p:spPr>
          <a:xfrm>
            <a:off x="8892311" y="2103120"/>
            <a:ext cx="365760" cy="27432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x15"/>
          <p:cNvSpPr/>
          <p:nvPr/>
        </p:nvSpPr>
        <p:spPr>
          <a:xfrm>
            <a:off x="9486671" y="1737360"/>
            <a:ext cx="2156383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x15/text16"/>
          <p:cNvSpPr txBox="1"/>
          <p:nvPr/>
        </p:nvSpPr>
        <p:spPr>
          <a:xfrm>
            <a:off x="9623831" y="1874519"/>
            <a:ext cx="1882063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0F1E3D"/>
                </a:solidFill>
                <a:latin typeface="Segoe UI Semibold"/>
              </a:rPr>
              <a:t>Your Systems</a:t>
            </a:r>
          </a:p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GitHub, Postgres, Slack</a:t>
            </a:r>
          </a:p>
        </p:txBody>
      </p:sp>
      <p:sp>
        <p:nvSpPr>
          <p:cNvPr id="18" name="box17"/>
          <p:cNvSpPr/>
          <p:nvPr/>
        </p:nvSpPr>
        <p:spPr>
          <a:xfrm>
            <a:off x="548640" y="2971800"/>
            <a:ext cx="354573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box17/img18" descr="badge_tools_m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548640" cy="548640"/>
          </a:xfrm>
          <a:prstGeom prst="rect">
            <a:avLst/>
          </a:prstGeom>
        </p:spPr>
      </p:pic>
      <p:sp>
        <p:nvSpPr>
          <p:cNvPr id="20" name="box17/text19"/>
          <p:cNvSpPr txBox="1"/>
          <p:nvPr/>
        </p:nvSpPr>
        <p:spPr>
          <a:xfrm>
            <a:off x="1554480" y="320040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Aft>
                <a:spcPts val="0"/>
              </a:spcAft>
            </a:pPr>
            <a:r>
              <a:rPr sz="2800" b="0">
                <a:solidFill>
                  <a:srgbClr val="C2410C"/>
                </a:solidFill>
                <a:latin typeface="Segoe UI Semibold"/>
              </a:rPr>
              <a:t>Tools</a:t>
            </a:r>
          </a:p>
        </p:txBody>
      </p:sp>
      <p:sp>
        <p:nvSpPr>
          <p:cNvPr id="21" name="box17/text20"/>
          <p:cNvSpPr txBox="1"/>
          <p:nvPr/>
        </p:nvSpPr>
        <p:spPr>
          <a:xfrm>
            <a:off x="777240" y="3977639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Actions the agent invokes.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create_issue()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run_query()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send_message()</a:t>
            </a:r>
          </a:p>
        </p:txBody>
      </p:sp>
      <p:sp>
        <p:nvSpPr>
          <p:cNvPr id="22" name="box21"/>
          <p:cNvSpPr/>
          <p:nvPr/>
        </p:nvSpPr>
        <p:spPr>
          <a:xfrm>
            <a:off x="4322978" y="2971800"/>
            <a:ext cx="354573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box21/img22" descr="badge_db_m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578" y="3200400"/>
            <a:ext cx="548640" cy="548640"/>
          </a:xfrm>
          <a:prstGeom prst="rect">
            <a:avLst/>
          </a:prstGeom>
        </p:spPr>
      </p:pic>
      <p:sp>
        <p:nvSpPr>
          <p:cNvPr id="24" name="box21/text23"/>
          <p:cNvSpPr txBox="1"/>
          <p:nvPr/>
        </p:nvSpPr>
        <p:spPr>
          <a:xfrm>
            <a:off x="5328818" y="320040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Aft>
                <a:spcPts val="0"/>
              </a:spcAft>
            </a:pPr>
            <a:r>
              <a:rPr sz="2800" b="0">
                <a:solidFill>
                  <a:srgbClr val="C2410C"/>
                </a:solidFill>
                <a:latin typeface="Segoe UI Semibold"/>
              </a:rPr>
              <a:t>Resources</a:t>
            </a:r>
          </a:p>
        </p:txBody>
      </p:sp>
      <p:sp>
        <p:nvSpPr>
          <p:cNvPr id="25" name="box21/text24"/>
          <p:cNvSpPr txBox="1"/>
          <p:nvPr/>
        </p:nvSpPr>
        <p:spPr>
          <a:xfrm>
            <a:off x="4551578" y="3977639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Data the agent can read.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file://...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postgres://...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repo://README</a:t>
            </a:r>
          </a:p>
        </p:txBody>
      </p:sp>
      <p:sp>
        <p:nvSpPr>
          <p:cNvPr id="26" name="box25"/>
          <p:cNvSpPr/>
          <p:nvPr/>
        </p:nvSpPr>
        <p:spPr>
          <a:xfrm>
            <a:off x="8097316" y="2971800"/>
            <a:ext cx="3545738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x25/img26" descr="badge_chat_mc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916" y="3200400"/>
            <a:ext cx="548640" cy="548640"/>
          </a:xfrm>
          <a:prstGeom prst="rect">
            <a:avLst/>
          </a:prstGeom>
        </p:spPr>
      </p:pic>
      <p:sp>
        <p:nvSpPr>
          <p:cNvPr id="28" name="box25/text27"/>
          <p:cNvSpPr txBox="1"/>
          <p:nvPr/>
        </p:nvSpPr>
        <p:spPr>
          <a:xfrm>
            <a:off x="9103156" y="320040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Aft>
                <a:spcPts val="0"/>
              </a:spcAft>
            </a:pPr>
            <a:r>
              <a:rPr sz="2800" b="0">
                <a:solidFill>
                  <a:srgbClr val="C2410C"/>
                </a:solidFill>
                <a:latin typeface="Segoe UI Semibold"/>
              </a:rPr>
              <a:t>Prompts</a:t>
            </a:r>
          </a:p>
        </p:txBody>
      </p:sp>
      <p:sp>
        <p:nvSpPr>
          <p:cNvPr id="29" name="box25/text28"/>
          <p:cNvSpPr txBox="1"/>
          <p:nvPr/>
        </p:nvSpPr>
        <p:spPr>
          <a:xfrm>
            <a:off x="8325916" y="3977639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Templates users pick.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/summarize-pr</a:t>
            </a:r>
          </a:p>
          <a:p>
            <a:pPr algn="l">
              <a:lnSpc>
                <a:spcPts val="1700"/>
              </a:lnSpc>
              <a:spcAft>
                <a:spcPts val="300"/>
              </a:spcAft>
            </a:pPr>
            <a:r>
              <a:rPr sz="1400" b="0">
                <a:solidFill>
                  <a:srgbClr val="0F1E3D"/>
                </a:solidFill>
                <a:latin typeface="Consolas"/>
              </a:rPr>
              <a:t>/triage-bug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Skills vs MCP: Different Jobs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05 · WITH MCP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6"/>
          <p:cNvGraphicFramePr>
            <a:graphicFrameLocks noGrp="1"/>
          </p:cNvGraphicFramePr>
          <p:nvPr/>
        </p:nvGraphicFramePr>
        <p:xfrm>
          <a:off x="548640" y="1737360"/>
          <a:ext cx="11094414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176064"/>
                <a:gridCol w="41751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FDBA74"/>
                          </a:solidFill>
                          <a:latin typeface="Segoe UI Semibold"/>
                        </a:rPr>
                        <a:t>MCP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3C5FD"/>
                          </a:solidFill>
                          <a:latin typeface="Segoe UI Semibold"/>
                        </a:rPr>
                        <a:t>Agent Skills</a:t>
                      </a:r>
                    </a:p>
                  </a:txBody>
                  <a:tcPr marL="137160" marR="137160" marT="73152" marB="73152" anchor="ctr"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Answers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What can the agent reach?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How should the agent behave?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Unit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A server exposing tools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A folder with SKILL.md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Always in context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Every tool schema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Name + description only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Loads fully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On trigger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Best for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Live data and actions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Procedures and conventions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5B6B80"/>
                          </a:solidFill>
                          <a:latin typeface="Segoe UI Semibold"/>
                        </a:rPr>
                        <a:t>Built with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Code: a server process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0F1E3D"/>
                          </a:solidFill>
                          <a:latin typeface="Segoe UI"/>
                        </a:rPr>
                        <a:t>Markdown + optional scripts</a:t>
                      </a:r>
                    </a:p>
                  </a:txBody>
                  <a:tcPr marL="137160" marR="137160" marT="73152" marB="7315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box7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x7/text8"/>
          <p:cNvSpPr txBox="1"/>
          <p:nvPr/>
        </p:nvSpPr>
        <p:spPr>
          <a:xfrm>
            <a:off x="685800" y="530352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FDBA74"/>
                </a:solidFill>
                <a:latin typeface="Segoe UI Semibold"/>
              </a:rPr>
              <a:t>MCP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 = what the agent can reach.     </a:t>
            </a:r>
            <a:r>
              <a:rPr sz="2000" b="0">
                <a:solidFill>
                  <a:srgbClr val="93C5FD"/>
                </a:solidFill>
                <a:latin typeface="Segoe UI Semibold"/>
              </a:rPr>
              <a:t>Skills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 = how it behaves.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Better Together: Skill + MCP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05 · WITH MCP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6/box7"/>
          <p:cNvSpPr/>
          <p:nvPr/>
        </p:nvSpPr>
        <p:spPr>
          <a:xfrm>
            <a:off x="685800" y="1882520"/>
            <a:ext cx="566928" cy="566928"/>
          </a:xfrm>
          <a:prstGeom prst="ellipse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x6/box7/text8"/>
          <p:cNvSpPr txBox="1"/>
          <p:nvPr/>
        </p:nvSpPr>
        <p:spPr>
          <a:xfrm>
            <a:off x="822960" y="2019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 Semibold"/>
              </a:rPr>
              <a:t>1</a:t>
            </a:r>
          </a:p>
        </p:txBody>
      </p:sp>
      <p:sp>
        <p:nvSpPr>
          <p:cNvPr id="10" name="box6/text9"/>
          <p:cNvSpPr txBox="1"/>
          <p:nvPr/>
        </p:nvSpPr>
        <p:spPr>
          <a:xfrm>
            <a:off x="1481328" y="1874519"/>
            <a:ext cx="3419474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User asks: "Write release notes for v2.1"</a:t>
            </a:r>
          </a:p>
        </p:txBody>
      </p:sp>
      <p:sp>
        <p:nvSpPr>
          <p:cNvPr id="11" name="box10"/>
          <p:cNvSpPr/>
          <p:nvPr/>
        </p:nvSpPr>
        <p:spPr>
          <a:xfrm>
            <a:off x="548640" y="282321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10/box11"/>
          <p:cNvSpPr/>
          <p:nvPr/>
        </p:nvSpPr>
        <p:spPr>
          <a:xfrm>
            <a:off x="685800" y="2968371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x10/box11/text12"/>
          <p:cNvSpPr txBox="1"/>
          <p:nvPr/>
        </p:nvSpPr>
        <p:spPr>
          <a:xfrm>
            <a:off x="822960" y="31055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box10/text13"/>
          <p:cNvSpPr txBox="1"/>
          <p:nvPr/>
        </p:nvSpPr>
        <p:spPr>
          <a:xfrm>
            <a:off x="1481328" y="2960370"/>
            <a:ext cx="3419474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Agent scans skill descriptions</a:t>
            </a:r>
          </a:p>
        </p:txBody>
      </p:sp>
      <p:sp>
        <p:nvSpPr>
          <p:cNvPr id="15" name="box14"/>
          <p:cNvSpPr/>
          <p:nvPr/>
        </p:nvSpPr>
        <p:spPr>
          <a:xfrm>
            <a:off x="548640" y="390906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x14/box15"/>
          <p:cNvSpPr/>
          <p:nvPr/>
        </p:nvSpPr>
        <p:spPr>
          <a:xfrm>
            <a:off x="685800" y="4054221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x14/box15/text16"/>
          <p:cNvSpPr txBox="1"/>
          <p:nvPr/>
        </p:nvSpPr>
        <p:spPr>
          <a:xfrm>
            <a:off x="822960" y="419138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box14/text17"/>
          <p:cNvSpPr txBox="1"/>
          <p:nvPr/>
        </p:nvSpPr>
        <p:spPr>
          <a:xfrm>
            <a:off x="1481328" y="4046220"/>
            <a:ext cx="3419474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writing-release-notes matches; SKILL.md loads</a:t>
            </a:r>
          </a:p>
        </p:txBody>
      </p:sp>
      <p:sp>
        <p:nvSpPr>
          <p:cNvPr id="19" name="box18"/>
          <p:cNvSpPr/>
          <p:nvPr/>
        </p:nvSpPr>
        <p:spPr>
          <a:xfrm>
            <a:off x="548640" y="499491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x18/box19"/>
          <p:cNvSpPr/>
          <p:nvPr/>
        </p:nvSpPr>
        <p:spPr>
          <a:xfrm>
            <a:off x="685800" y="5140071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x18/box19/text20"/>
          <p:cNvSpPr txBox="1"/>
          <p:nvPr/>
        </p:nvSpPr>
        <p:spPr>
          <a:xfrm>
            <a:off x="822960" y="52772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box18/text21"/>
          <p:cNvSpPr txBox="1"/>
          <p:nvPr/>
        </p:nvSpPr>
        <p:spPr>
          <a:xfrm>
            <a:off x="1481328" y="5132070"/>
            <a:ext cx="3419474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Step 1 says: "collect merged PRs"</a:t>
            </a:r>
          </a:p>
        </p:txBody>
      </p:sp>
      <p:sp>
        <p:nvSpPr>
          <p:cNvPr id="23" name="box22"/>
          <p:cNvSpPr/>
          <p:nvPr/>
        </p:nvSpPr>
        <p:spPr>
          <a:xfrm>
            <a:off x="7153732" y="173736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x22/box23"/>
          <p:cNvSpPr/>
          <p:nvPr/>
        </p:nvSpPr>
        <p:spPr>
          <a:xfrm>
            <a:off x="7290892" y="188252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x22/box23/text24"/>
          <p:cNvSpPr txBox="1"/>
          <p:nvPr/>
        </p:nvSpPr>
        <p:spPr>
          <a:xfrm>
            <a:off x="7428052" y="2019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 Semibold"/>
              </a:rPr>
              <a:t>5</a:t>
            </a:r>
          </a:p>
        </p:txBody>
      </p:sp>
      <p:sp>
        <p:nvSpPr>
          <p:cNvPr id="26" name="box22/text25"/>
          <p:cNvSpPr txBox="1"/>
          <p:nvPr/>
        </p:nvSpPr>
        <p:spPr>
          <a:xfrm>
            <a:off x="8086420" y="1874519"/>
            <a:ext cx="3419475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Agent calls MCP tool list_merged_prs()</a:t>
            </a:r>
          </a:p>
        </p:txBody>
      </p:sp>
      <p:sp>
        <p:nvSpPr>
          <p:cNvPr id="27" name="box26"/>
          <p:cNvSpPr/>
          <p:nvPr/>
        </p:nvSpPr>
        <p:spPr>
          <a:xfrm>
            <a:off x="7153732" y="282321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x26/box27"/>
          <p:cNvSpPr/>
          <p:nvPr/>
        </p:nvSpPr>
        <p:spPr>
          <a:xfrm>
            <a:off x="7290892" y="2968371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x26/box27/text28"/>
          <p:cNvSpPr txBox="1"/>
          <p:nvPr/>
        </p:nvSpPr>
        <p:spPr>
          <a:xfrm>
            <a:off x="7428052" y="31055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 Semibold"/>
              </a:rPr>
              <a:t>6</a:t>
            </a:r>
          </a:p>
        </p:txBody>
      </p:sp>
      <p:sp>
        <p:nvSpPr>
          <p:cNvPr id="30" name="box26/text29"/>
          <p:cNvSpPr txBox="1"/>
          <p:nvPr/>
        </p:nvSpPr>
        <p:spPr>
          <a:xfrm>
            <a:off x="8086420" y="2960370"/>
            <a:ext cx="3419475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Tool returns PR table + breaking-change hints</a:t>
            </a:r>
          </a:p>
        </p:txBody>
      </p:sp>
      <p:sp>
        <p:nvSpPr>
          <p:cNvPr id="31" name="box30"/>
          <p:cNvSpPr/>
          <p:nvPr/>
        </p:nvSpPr>
        <p:spPr>
          <a:xfrm>
            <a:off x="7153732" y="390906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x30/box31"/>
          <p:cNvSpPr/>
          <p:nvPr/>
        </p:nvSpPr>
        <p:spPr>
          <a:xfrm>
            <a:off x="7290892" y="4054221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x30/box31/text32"/>
          <p:cNvSpPr txBox="1"/>
          <p:nvPr/>
        </p:nvSpPr>
        <p:spPr>
          <a:xfrm>
            <a:off x="7428052" y="419138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4" name="box30/text33"/>
          <p:cNvSpPr txBox="1"/>
          <p:nvPr/>
        </p:nvSpPr>
        <p:spPr>
          <a:xfrm>
            <a:off x="8086420" y="4046220"/>
            <a:ext cx="3419475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Agent drafts, then runs the checklist</a:t>
            </a:r>
          </a:p>
        </p:txBody>
      </p:sp>
      <p:sp>
        <p:nvSpPr>
          <p:cNvPr id="35" name="box34"/>
          <p:cNvSpPr/>
          <p:nvPr/>
        </p:nvSpPr>
        <p:spPr>
          <a:xfrm>
            <a:off x="7153732" y="4994910"/>
            <a:ext cx="4489323" cy="857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x34/box35"/>
          <p:cNvSpPr/>
          <p:nvPr/>
        </p:nvSpPr>
        <p:spPr>
          <a:xfrm>
            <a:off x="7290892" y="5140071"/>
            <a:ext cx="566928" cy="566928"/>
          </a:xfrm>
          <a:prstGeom prst="ellipse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x34/box35/text36"/>
          <p:cNvSpPr txBox="1"/>
          <p:nvPr/>
        </p:nvSpPr>
        <p:spPr>
          <a:xfrm>
            <a:off x="7428052" y="52772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 Semibold"/>
              </a:rPr>
              <a:t>8</a:t>
            </a:r>
          </a:p>
        </p:txBody>
      </p:sp>
      <p:sp>
        <p:nvSpPr>
          <p:cNvPr id="38" name="box34/text37"/>
          <p:cNvSpPr txBox="1"/>
          <p:nvPr/>
        </p:nvSpPr>
        <p:spPr>
          <a:xfrm>
            <a:off x="8086420" y="5132070"/>
            <a:ext cx="3419475" cy="5829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500" b="0">
                <a:solidFill>
                  <a:srgbClr val="0F1E3D"/>
                </a:solidFill>
                <a:latin typeface="Segoe UI"/>
              </a:rPr>
              <a:t>Structured release notes returned</a:t>
            </a:r>
          </a:p>
        </p:txBody>
      </p:sp>
      <p:sp>
        <p:nvSpPr>
          <p:cNvPr id="39" name="text38"/>
          <p:cNvSpPr txBox="1"/>
          <p:nvPr/>
        </p:nvSpPr>
        <p:spPr>
          <a:xfrm>
            <a:off x="5266562" y="1737360"/>
            <a:ext cx="1658569" cy="411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1800"/>
              </a:spcAft>
            </a:pPr>
            <a:r>
              <a:rPr sz="1300" b="0">
                <a:solidFill>
                  <a:srgbClr val="A9B6C8"/>
                </a:solidFill>
                <a:latin typeface="Segoe UI Semibold"/>
              </a:rPr>
              <a:t>Steps 1–4, then 5–8</a:t>
            </a:r>
          </a:p>
          <a:p>
            <a:pPr algn="ctr">
              <a:lnSpc>
                <a:spcPts val="2200"/>
              </a:lnSpc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●  </a:t>
            </a:r>
            <a:r>
              <a:rPr sz="1300" b="0">
                <a:solidFill>
                  <a:srgbClr val="FFFFFF"/>
                </a:solidFill>
                <a:latin typeface="Segoe UI"/>
              </a:rPr>
              <a:t>Agent</a:t>
            </a:r>
          </a:p>
          <a:p>
            <a:pPr algn="ctr">
              <a:lnSpc>
                <a:spcPts val="2200"/>
              </a:lnSpc>
              <a:spcAft>
                <a:spcPts val="1400"/>
              </a:spcAft>
            </a:pPr>
            <a:r>
              <a:rPr sz="1800" b="0">
                <a:solidFill>
                  <a:srgbClr val="93C5FD"/>
                </a:solidFill>
                <a:latin typeface="Segoe UI"/>
              </a:rPr>
              <a:t>●  </a:t>
            </a:r>
            <a:r>
              <a:rPr sz="1300" b="0">
                <a:solidFill>
                  <a:srgbClr val="FFFFFF"/>
                </a:solidFill>
                <a:latin typeface="Segoe UI"/>
              </a:rPr>
              <a:t>Skill drives the steps</a:t>
            </a:r>
          </a:p>
          <a:p>
            <a:pPr algn="ctr">
              <a:lnSpc>
                <a:spcPts val="2200"/>
              </a:lnSpc>
              <a:spcAft>
                <a:spcPts val="1400"/>
              </a:spcAft>
            </a:pPr>
            <a:r>
              <a:rPr sz="1800" b="0">
                <a:solidFill>
                  <a:srgbClr val="FDBA74"/>
                </a:solidFill>
                <a:latin typeface="Segoe UI"/>
              </a:rPr>
              <a:t>●  </a:t>
            </a:r>
            <a:r>
              <a:rPr sz="1300" b="0">
                <a:solidFill>
                  <a:srgbClr val="FFFFFF"/>
                </a:solidFill>
                <a:latin typeface="Segoe UI"/>
              </a:rPr>
              <a:t>MCP supplies live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548640"/>
            <a:ext cx="8263661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00"/>
              </a:lnSpc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Segoe UI Semibold"/>
              </a:rPr>
              <a:t>Skill, MCP, or Both?</a:t>
            </a:r>
          </a:p>
        </p:txBody>
      </p:sp>
      <p:sp>
        <p:nvSpPr>
          <p:cNvPr id="4" name="box3"/>
          <p:cNvSpPr/>
          <p:nvPr/>
        </p:nvSpPr>
        <p:spPr>
          <a:xfrm>
            <a:off x="9040901" y="617219"/>
            <a:ext cx="2602153" cy="5486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3/text4"/>
          <p:cNvSpPr txBox="1"/>
          <p:nvPr/>
        </p:nvSpPr>
        <p:spPr>
          <a:xfrm>
            <a:off x="9178061" y="754380"/>
            <a:ext cx="232783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05 · WITH MCP</a:t>
            </a:r>
          </a:p>
        </p:txBody>
      </p:sp>
      <p:sp>
        <p:nvSpPr>
          <p:cNvPr id="6" name="box5"/>
          <p:cNvSpPr/>
          <p:nvPr/>
        </p:nvSpPr>
        <p:spPr>
          <a:xfrm>
            <a:off x="548640" y="1463040"/>
            <a:ext cx="1097280" cy="38404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6"/>
          <p:cNvSpPr/>
          <p:nvPr/>
        </p:nvSpPr>
        <p:spPr>
          <a:xfrm>
            <a:off x="548640" y="1737360"/>
            <a:ext cx="354573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box6/img7" descr="badge_bulb_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48640" cy="548640"/>
          </a:xfrm>
          <a:prstGeom prst="rect">
            <a:avLst/>
          </a:prstGeom>
        </p:spPr>
      </p:pic>
      <p:sp>
        <p:nvSpPr>
          <p:cNvPr id="9" name="box6/text8"/>
          <p:cNvSpPr txBox="1"/>
          <p:nvPr/>
        </p:nvSpPr>
        <p:spPr>
          <a:xfrm>
            <a:off x="1554480" y="196596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1D4ED8"/>
                </a:solidFill>
                <a:latin typeface="Segoe UI Semibold"/>
              </a:rPr>
              <a:t>Write a skill</a:t>
            </a:r>
          </a:p>
        </p:txBody>
      </p:sp>
      <p:sp>
        <p:nvSpPr>
          <p:cNvPr id="10" name="box6/text9"/>
          <p:cNvSpPr txBox="1"/>
          <p:nvPr/>
        </p:nvSpPr>
        <p:spPr>
          <a:xfrm>
            <a:off x="777240" y="2743200"/>
            <a:ext cx="3088538" cy="2011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USE WHEN</a:t>
            </a:r>
          </a:p>
          <a:p>
            <a:pPr algn="l">
              <a:lnSpc>
                <a:spcPts val="2200"/>
              </a:lnSpc>
              <a:spcAft>
                <a:spcPts val="6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It is a repeatable procedure or team convention.</a:t>
            </a:r>
          </a:p>
          <a:p>
            <a:pPr algn="l">
              <a:lnSpc>
                <a:spcPts val="1600"/>
              </a:lnSpc>
              <a:spcAft>
                <a:spcPts val="4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EXAMPLES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2563EB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Code review checklist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2563EB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Commit message style</a:t>
            </a:r>
          </a:p>
        </p:txBody>
      </p:sp>
      <p:sp>
        <p:nvSpPr>
          <p:cNvPr id="11" name="box10"/>
          <p:cNvSpPr/>
          <p:nvPr/>
        </p:nvSpPr>
        <p:spPr>
          <a:xfrm>
            <a:off x="4322978" y="1737360"/>
            <a:ext cx="354573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box10/img11" descr="badge_db_m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578" y="1965960"/>
            <a:ext cx="548640" cy="548640"/>
          </a:xfrm>
          <a:prstGeom prst="rect">
            <a:avLst/>
          </a:prstGeom>
        </p:spPr>
      </p:pic>
      <p:sp>
        <p:nvSpPr>
          <p:cNvPr id="13" name="box10/text12"/>
          <p:cNvSpPr txBox="1"/>
          <p:nvPr/>
        </p:nvSpPr>
        <p:spPr>
          <a:xfrm>
            <a:off x="5328818" y="196596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C2410C"/>
                </a:solidFill>
                <a:latin typeface="Segoe UI Semibold"/>
              </a:rPr>
              <a:t>Add an MCP server</a:t>
            </a:r>
          </a:p>
        </p:txBody>
      </p:sp>
      <p:sp>
        <p:nvSpPr>
          <p:cNvPr id="14" name="box10/text13"/>
          <p:cNvSpPr txBox="1"/>
          <p:nvPr/>
        </p:nvSpPr>
        <p:spPr>
          <a:xfrm>
            <a:off x="4551578" y="2743200"/>
            <a:ext cx="3088538" cy="2011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USE WHEN</a:t>
            </a:r>
          </a:p>
          <a:p>
            <a:pPr algn="l">
              <a:lnSpc>
                <a:spcPts val="2200"/>
              </a:lnSpc>
              <a:spcAft>
                <a:spcPts val="6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The agent needs live data or must take actions.</a:t>
            </a:r>
          </a:p>
          <a:p>
            <a:pPr algn="l">
              <a:lnSpc>
                <a:spcPts val="1600"/>
              </a:lnSpc>
              <a:spcAft>
                <a:spcPts val="4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EXAMPLES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C2410C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Query Postgres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C2410C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Open a GitHub issue</a:t>
            </a:r>
          </a:p>
        </p:txBody>
      </p:sp>
      <p:sp>
        <p:nvSpPr>
          <p:cNvPr id="15" name="box14"/>
          <p:cNvSpPr/>
          <p:nvPr/>
        </p:nvSpPr>
        <p:spPr>
          <a:xfrm>
            <a:off x="8097316" y="1737360"/>
            <a:ext cx="354573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box14/img15" descr="badge_puzzle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916" y="1965960"/>
            <a:ext cx="548640" cy="548640"/>
          </a:xfrm>
          <a:prstGeom prst="rect">
            <a:avLst/>
          </a:prstGeom>
        </p:spPr>
      </p:pic>
      <p:sp>
        <p:nvSpPr>
          <p:cNvPr id="17" name="box14/text16"/>
          <p:cNvSpPr txBox="1"/>
          <p:nvPr/>
        </p:nvSpPr>
        <p:spPr>
          <a:xfrm>
            <a:off x="9103156" y="1965960"/>
            <a:ext cx="23112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2000" b="0">
                <a:solidFill>
                  <a:srgbClr val="047857"/>
                </a:solidFill>
                <a:latin typeface="Segoe UI Semibold"/>
              </a:rPr>
              <a:t>Use both together</a:t>
            </a:r>
          </a:p>
        </p:txBody>
      </p:sp>
      <p:sp>
        <p:nvSpPr>
          <p:cNvPr id="18" name="box14/text17"/>
          <p:cNvSpPr txBox="1"/>
          <p:nvPr/>
        </p:nvSpPr>
        <p:spPr>
          <a:xfrm>
            <a:off x="8325916" y="2743200"/>
            <a:ext cx="3088538" cy="2011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USE WHEN</a:t>
            </a:r>
          </a:p>
          <a:p>
            <a:pPr algn="l">
              <a:lnSpc>
                <a:spcPts val="2200"/>
              </a:lnSpc>
              <a:spcAft>
                <a:spcPts val="600"/>
              </a:spcAft>
            </a:pPr>
            <a:r>
              <a:rPr sz="1800" b="0">
                <a:solidFill>
                  <a:srgbClr val="0F1E3D"/>
                </a:solidFill>
                <a:latin typeface="Segoe UI"/>
              </a:rPr>
              <a:t>A procedure that depends on live data.</a:t>
            </a:r>
          </a:p>
          <a:p>
            <a:pPr algn="l">
              <a:lnSpc>
                <a:spcPts val="1600"/>
              </a:lnSpc>
              <a:spcAft>
                <a:spcPts val="400"/>
              </a:spcAft>
            </a:pPr>
            <a:r>
              <a:rPr sz="1300" b="0">
                <a:solidFill>
                  <a:srgbClr val="5B6B80"/>
                </a:solidFill>
                <a:latin typeface="Segoe UI Semibold"/>
              </a:rPr>
              <a:t>EXAMPLES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047857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Release notes from PRs</a:t>
            </a:r>
          </a:p>
          <a:p>
            <a:pPr algn="l" marL="320040" indent="-320040">
              <a:lnSpc>
                <a:spcPts val="1900"/>
              </a:lnSpc>
              <a:spcAft>
                <a:spcPts val="400"/>
              </a:spcAft>
              <a:buNone/>
            </a:pPr>
            <a:r>
              <a:rPr sz="1600" b="0">
                <a:solidFill>
                  <a:srgbClr val="047857"/>
                </a:solidFill>
                <a:latin typeface="Segoe UI"/>
              </a:rPr>
              <a:t>●  </a:t>
            </a:r>
            <a:r>
              <a:rPr sz="1600" b="0">
                <a:solidFill>
                  <a:srgbClr val="0F1E3D"/>
                </a:solidFill>
                <a:latin typeface="Segoe UI"/>
              </a:rPr>
              <a:t>Incident report from logs</a:t>
            </a:r>
          </a:p>
        </p:txBody>
      </p:sp>
      <p:sp>
        <p:nvSpPr>
          <p:cNvPr id="19" name="box18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x18/text19"/>
          <p:cNvSpPr txBox="1"/>
          <p:nvPr/>
        </p:nvSpPr>
        <p:spPr>
          <a:xfrm>
            <a:off x="685800" y="5349240"/>
            <a:ext cx="10820095" cy="3657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Neither? A project rule or a plain prompt is enough.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  <p:sp>
        <p:nvSpPr>
          <p:cNvPr id="3" name="box2"/>
          <p:cNvSpPr/>
          <p:nvPr/>
        </p:nvSpPr>
        <p:spPr>
          <a:xfrm>
            <a:off x="6210147" y="548640"/>
            <a:ext cx="5432907" cy="576072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x2/text3"/>
          <p:cNvSpPr txBox="1"/>
          <p:nvPr/>
        </p:nvSpPr>
        <p:spPr>
          <a:xfrm>
            <a:off x="6530187" y="868680"/>
            <a:ext cx="4792827" cy="3657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00"/>
              </a:lnSpc>
              <a:spcAft>
                <a:spcPts val="1400"/>
              </a:spcAft>
            </a:pPr>
            <a:r>
              <a:rPr sz="2800" b="0">
                <a:solidFill>
                  <a:srgbClr val="FFFFFF"/>
                </a:solidFill>
                <a:latin typeface="Segoe UI Semibold"/>
              </a:rPr>
              <a:t>Three takeaways</a:t>
            </a:r>
          </a:p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93C5FD"/>
                </a:solidFill>
                <a:latin typeface="Segoe UI Semibold"/>
              </a:rPr>
              <a:t>1   </a:t>
            </a:r>
            <a:r>
              <a:rPr sz="1800" b="0">
                <a:solidFill>
                  <a:srgbClr val="FFFFFF"/>
                </a:solidFill>
                <a:latin typeface="Segoe UI"/>
              </a:rPr>
              <a:t>A skill packages a proven procedure, so every run follows the same steps.</a:t>
            </a:r>
          </a:p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93C5FD"/>
                </a:solidFill>
                <a:latin typeface="Segoe UI Semibold"/>
              </a:rPr>
              <a:t>2   </a:t>
            </a:r>
            <a:r>
              <a:rPr sz="1800" b="0">
                <a:solidFill>
                  <a:srgbClr val="FFFFFF"/>
                </a:solidFill>
                <a:latin typeface="Segoe UI"/>
              </a:rPr>
              <a:t>Skills save context: only the name and description load until a skill is needed.</a:t>
            </a:r>
          </a:p>
          <a:p>
            <a:pPr algn="l">
              <a:lnSpc>
                <a:spcPts val="2200"/>
              </a:lnSpc>
              <a:spcAft>
                <a:spcPts val="1000"/>
              </a:spcAft>
            </a:pPr>
            <a:r>
              <a:rPr sz="1800" b="0">
                <a:solidFill>
                  <a:srgbClr val="93C5FD"/>
                </a:solidFill>
                <a:latin typeface="Segoe UI Semibold"/>
              </a:rPr>
              <a:t>3   </a:t>
            </a:r>
            <a:r>
              <a:rPr sz="1800" b="0">
                <a:solidFill>
                  <a:srgbClr val="FFFFFF"/>
                </a:solidFill>
                <a:latin typeface="Segoe UI"/>
              </a:rPr>
              <a:t>Skills define how the work is done; MCP connects the agent to live tools and data.</a:t>
            </a:r>
          </a:p>
        </p:txBody>
      </p:sp>
      <p:pic>
        <p:nvPicPr>
          <p:cNvPr id="5" name="box2/img4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7" y="4800600"/>
            <a:ext cx="1188720" cy="1188720"/>
          </a:xfrm>
          <a:prstGeom prst="rect">
            <a:avLst/>
          </a:prstGeom>
        </p:spPr>
      </p:pic>
      <p:sp>
        <p:nvSpPr>
          <p:cNvPr id="6" name="box2/text5"/>
          <p:cNvSpPr txBox="1"/>
          <p:nvPr/>
        </p:nvSpPr>
        <p:spPr>
          <a:xfrm>
            <a:off x="7947507" y="4800600"/>
            <a:ext cx="3375507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00"/>
              </a:lnSpc>
              <a:spcAft>
                <a:spcPts val="400"/>
              </a:spcAft>
            </a:pPr>
            <a:r>
              <a:rPr sz="1300" b="0">
                <a:solidFill>
                  <a:srgbClr val="FDBA74"/>
                </a:solidFill>
                <a:latin typeface="Segoe UI Semibold"/>
              </a:rPr>
              <a:t>Scan for the spec and docs</a:t>
            </a:r>
          </a:p>
          <a:p>
            <a:pPr algn="l">
              <a:lnSpc>
                <a:spcPts val="1600"/>
              </a:lnSpc>
              <a:spcAft>
                <a:spcPts val="10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agentskills.io/specification</a:t>
            </a:r>
          </a:p>
          <a:p>
            <a:pPr algn="l">
              <a:lnSpc>
                <a:spcPts val="1600"/>
              </a:lnSpc>
              <a:spcAft>
                <a:spcPts val="10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cursor.com/docs/skills</a:t>
            </a:r>
          </a:p>
          <a:p>
            <a:pPr algn="l">
              <a:lnSpc>
                <a:spcPts val="1600"/>
              </a:lnSpc>
              <a:spcAft>
                <a:spcPts val="100"/>
              </a:spcAft>
            </a:pPr>
            <a:r>
              <a:rPr sz="1300" b="0">
                <a:solidFill>
                  <a:srgbClr val="A9B6C8"/>
                </a:solidFill>
                <a:latin typeface="Segoe UI"/>
              </a:rPr>
              <a:t>docs.claude.com  ·  Agent Skills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:img1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543"/>
          </a:xfrm>
          <a:prstGeom prst="rect">
            <a:avLst/>
          </a:prstGeom>
        </p:spPr>
      </p:pic>
      <p:sp>
        <p:nvSpPr>
          <p:cNvPr id="3" name="text2"/>
          <p:cNvSpPr txBox="1"/>
          <p:nvPr/>
        </p:nvSpPr>
        <p:spPr>
          <a:xfrm>
            <a:off x="548640" y="2103120"/>
            <a:ext cx="11094415" cy="160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600"/>
              </a:lnSpc>
              <a:spcAft>
                <a:spcPts val="0"/>
              </a:spcAft>
            </a:pPr>
            <a:r>
              <a:rPr sz="8000" b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4" name="box3"/>
          <p:cNvSpPr/>
          <p:nvPr/>
        </p:nvSpPr>
        <p:spPr>
          <a:xfrm>
            <a:off x="4975707" y="3977639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4"/>
          <p:cNvSpPr/>
          <p:nvPr/>
        </p:nvSpPr>
        <p:spPr>
          <a:xfrm>
            <a:off x="6210147" y="3977639"/>
            <a:ext cx="100584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